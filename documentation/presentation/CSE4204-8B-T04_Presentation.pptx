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404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3404D"/>
                </a:solidFill>
                <a:latin typeface="Arial"/>
              </a:rPr>
              <a:t>Automated tests by suite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0E8F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Auth</c:v>
                  </c:pt>
                  <c:pt idx="1">
                    <c:v>API</c:v>
                  </c:pt>
                  <c:pt idx="2">
                    <c:v>AI client</c:v>
                  </c:pt>
                  <c:pt idx="3">
                    <c:v>Agents</c:v>
                  </c:pt>
                  <c:pt idx="4">
                    <c:v>No-fake</c:v>
                  </c:pt>
                  <c:pt idx="5">
                    <c:v>Executive</c:v>
                  </c:pt>
                  <c:pt idx="6">
                    <c:v>RAG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</c:v>
                </c:pt>
                <c:pt idx="1">
                  <c:v>14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7</c:v>
                </c:pt>
                <c:pt idx="6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E8F84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663440"/>
            <a:ext cx="3657600" cy="3657600"/>
          </a:xfrm>
          <a:prstGeom prst="ellipse">
            <a:avLst/>
          </a:prstGeom>
          <a:solidFill>
            <a:srgbClr val="0F9D6C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B8A6"/>
                </a:solidFill>
              </a:rPr>
              <a:t>CSE 4204 — MOBILE COMPUTING LAB  |  AI-BASED SOFTWARE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5544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NeXus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9E6"/>
                </a:solidFill>
              </a:rPr>
              <a:t>Multi-Agent AI Business Automation OS with Security Intelligence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58368" y="3429000"/>
            <a:ext cx="292608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7033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Team CSE4204-8B-T04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2B0"/>
                </a:solidFill>
              </a:rPr>
              <a:t>Northern University of Business and Technology, Khulna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2B0"/>
                </a:solidFill>
              </a:rPr>
              <a:t>Department of Computer Science and Engineering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8A4"/>
                </a:solidFill>
              </a:rPr>
              <a:t>Week 13 — Final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4"/>
                </a:solidFill>
              </a:rPr>
              <a:t>WHO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84248"/>
            <a:ext cx="1005840" cy="1005840"/>
          </a:xfrm>
          <a:prstGeom prst="ellipse">
            <a:avLst/>
          </a:prstGeom>
          <a:solidFill>
            <a:srgbClr val="0E8F8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842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57400" y="19202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0"/>
                </a:solidFill>
              </a:rPr>
              <a:t>Nazmus Sakib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057400" y="231343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84"/>
                </a:solidFill>
              </a:rPr>
              <a:t>Team Leader &amp; AI Integration Lead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057400" y="28803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ID: 11220320888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984248"/>
            <a:ext cx="1005840" cy="1005840"/>
          </a:xfrm>
          <a:prstGeom prst="ellipse">
            <a:avLst/>
          </a:prstGeom>
          <a:solidFill>
            <a:srgbClr val="0F9D6C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9842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26680" y="19202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0"/>
                </a:solidFill>
              </a:rPr>
              <a:t>Shoeb Shariar Mashuk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26680" y="231343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84"/>
                </a:solidFill>
              </a:rPr>
              <a:t>Backend Developer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26680" y="28803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ID: 11220320878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133088"/>
            <a:ext cx="1005840" cy="1005840"/>
          </a:xfrm>
          <a:prstGeom prst="ellipse">
            <a:avLst/>
          </a:prstGeom>
          <a:solidFill>
            <a:srgbClr val="D98A0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3308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57400" y="4069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0"/>
                </a:solidFill>
              </a:rPr>
              <a:t>Most Sumiya Sanjida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057400" y="446227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84"/>
                </a:solidFill>
              </a:rPr>
              <a:t>Frontend Developer — 1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057400" y="50292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ID: 11220320874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74904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4133088"/>
            <a:ext cx="1005840" cy="1005840"/>
          </a:xfrm>
          <a:prstGeom prst="ellipse">
            <a:avLst/>
          </a:prstGeom>
          <a:solidFill>
            <a:srgbClr val="0E8F84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413308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26680" y="4069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0"/>
                </a:solidFill>
              </a:rPr>
              <a:t>Sabrina Ibrahim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726680" y="446227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84"/>
                </a:solidFill>
              </a:rPr>
              <a:t>Database Manager &amp; Frontend Dev — 2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26680" y="50292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ID: 11220320895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5"/>
                </a:solidFill>
              </a:rPr>
              <a:t>Enterprise NeXus</a:t>
            </a:r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   |   CSE4204-8B-T04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4"/>
                </a:solidFill>
              </a:rPr>
              <a:t>WHY ENTERPRISE NEXUS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04D"/>
                </a:solidFill>
              </a:rPr>
              <a:t>Small and medium enterprises run their departments on disconnected tools and manual effort — with no shared intelligence across the business.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FBF3EE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688336"/>
            <a:ext cx="566928" cy="566928"/>
          </a:xfrm>
          <a:prstGeom prst="ellipse">
            <a:avLst/>
          </a:prstGeom>
          <a:solidFill>
            <a:srgbClr val="D98A0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688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670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0"/>
                </a:solidFill>
              </a:rPr>
              <a:t>Siloed tools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600200" y="309067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25E"/>
                </a:solidFill>
              </a:rPr>
              <a:t>HR, finance, support and analytics live in separate systems that don’t talk to each other.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37744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FBF3EE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0528" y="2688336"/>
            <a:ext cx="566928" cy="566928"/>
          </a:xfrm>
          <a:prstGeom prst="ellipse">
            <a:avLst/>
          </a:prstGeom>
          <a:solidFill>
            <a:srgbClr val="D98A00"/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2688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69480" y="2670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0"/>
                </a:solidFill>
              </a:rPr>
              <a:t>Manual, repetitive work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269480" y="309067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25E"/>
                </a:solidFill>
              </a:rPr>
              <a:t>Screening CVs, checking expenses, triaging tickets and compiling reports by hand.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FBF3EE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4562856"/>
            <a:ext cx="566928" cy="566928"/>
          </a:xfrm>
          <a:prstGeom prst="ellipse">
            <a:avLst/>
          </a:prstGeom>
          <a:solidFill>
            <a:srgbClr val="D98A00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562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544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0"/>
                </a:solidFill>
              </a:rPr>
              <a:t>No cross-domain view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600200" y="496519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25E"/>
                </a:solidFill>
              </a:rPr>
              <a:t>Leaders lack a single, real-time picture of the whole organisation.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425196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FBF3EE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0528" y="4562856"/>
            <a:ext cx="566928" cy="566928"/>
          </a:xfrm>
          <a:prstGeom prst="ellipse">
            <a:avLst/>
          </a:prstGeom>
          <a:solidFill>
            <a:srgbClr val="D98A00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4562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4544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0"/>
                </a:solidFill>
              </a:rPr>
              <a:t>Shallow or no AI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269480" y="496519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25E"/>
                </a:solidFill>
              </a:rPr>
              <a:t>Existing suites are costly and rarely apply real AI reasoning to a company’s own data.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5"/>
                </a:solidFill>
              </a:rPr>
              <a:t>Enterprise NeXus</a:t>
            </a:r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   |   CSE4204-8B-T04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4"/>
                </a:solidFill>
              </a:rPr>
              <a:t>ONE AI-POWERED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404D"/>
                </a:solidFill>
              </a:rPr>
              <a:t>Enterprise NeXus unifies core business functions and deploys five specialised AI agents that operate on the company’s own data, coordinated by an Executive orchestrator and served through a single role-based dashboard.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883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F84"/>
                </a:solidFill>
              </a:rPr>
              <a:t>Automate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1272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Five autonomous agents handle routine HR, finance and support work.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246888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26883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F84"/>
                </a:solidFill>
              </a:rPr>
              <a:t>Decide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99432" y="31272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Gemini generates scores, anomaly alerts, KPI narratives and briefings.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01584" y="246888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75904" y="26883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F84"/>
                </a:solidFill>
              </a:rPr>
              <a:t>Centralise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75904" y="31272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All departments in one real-time dashboard and search.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4714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F84"/>
                </a:solidFill>
              </a:rPr>
              <a:t>Secure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91032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JWT + RBAC, rate limiting, Row-Level Security and audit logging.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25112" y="425196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99432" y="44714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F84"/>
                </a:solidFill>
              </a:rPr>
              <a:t>Scale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99432" y="491032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Cloud-native deployment on Vercel, Render and Supabase with CI.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01584" y="425196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75904" y="44714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F84"/>
                </a:solidFill>
              </a:rPr>
              <a:t>Deliver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75904" y="491032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A complete, tested, documented full-stack AI system.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5"/>
                </a:solidFill>
              </a:rPr>
              <a:t>Enterprise NeXus</a:t>
            </a:r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   |   CSE4204-8B-T04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4"/>
                </a:solidFill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rgbClr val="0E8F8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5786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0"/>
                </a:solidFill>
              </a:rPr>
              <a:t>Multi-Agent Orchestration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30632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HR, Finance, Support, Analytics &amp; Executive agents that collaborate.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64592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920240"/>
            <a:ext cx="566928" cy="566928"/>
          </a:xfrm>
          <a:prstGeom prst="ellipse">
            <a:avLst/>
          </a:prstGeom>
          <a:solidFill>
            <a:srgbClr val="0F9D6C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1144" y="25786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0"/>
                </a:solidFill>
              </a:rPr>
              <a:t>Intelligent CV Screening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81144" y="30632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AI scores, recommendations and narrative summaries from CVs.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64592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920240"/>
            <a:ext cx="566928" cy="566928"/>
          </a:xfrm>
          <a:prstGeom prst="ellipse">
            <a:avLst/>
          </a:prstGeom>
          <a:solidFill>
            <a:srgbClr val="0E8F84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57616" y="25786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0"/>
                </a:solidFill>
              </a:rPr>
              <a:t>Financial Anomaly Detection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7616" y="30632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Severity-graded expense analysis, invoice &amp; bulk import.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06240"/>
            <a:ext cx="566928" cy="566928"/>
          </a:xfrm>
          <a:prstGeom prst="ellipse">
            <a:avLst/>
          </a:prstGeom>
          <a:solidFill>
            <a:srgbClr val="0F9D6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48646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0"/>
                </a:solidFill>
              </a:rPr>
              <a:t>Context-Aware Support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4672" y="53492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Sentiment/urgency triage with RAG-grounded reply drafting.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25112" y="393192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4206240"/>
            <a:ext cx="566928" cy="566928"/>
          </a:xfrm>
          <a:prstGeom prst="ellipse">
            <a:avLst/>
          </a:prstGeom>
          <a:solidFill>
            <a:srgbClr val="0E8F84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81144" y="48646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0"/>
                </a:solidFill>
              </a:rPr>
              <a:t>Executive Synthesis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81144" y="53492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Cross-domain briefings with PDF export.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01584" y="393192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75904" y="4206240"/>
            <a:ext cx="566928" cy="566928"/>
          </a:xfrm>
          <a:prstGeom prst="ellipse">
            <a:avLst/>
          </a:prstGeom>
          <a:solidFill>
            <a:srgbClr val="0F9D6C"/>
          </a:solidFill>
          <a:ln/>
        </p:spPr>
      </p:sp>
      <p:sp>
        <p:nvSpPr>
          <p:cNvPr id="31" name="Text 29"/>
          <p:cNvSpPr/>
          <p:nvPr/>
        </p:nvSpPr>
        <p:spPr>
          <a:xfrm>
            <a:off x="8375904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57616" y="48646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0"/>
                </a:solidFill>
              </a:rPr>
              <a:t>Security Intelligence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57616" y="53492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Audit trail, security stats and role-based access.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5"/>
                </a:solidFill>
              </a:rPr>
              <a:t>Enterprise NeXus</a:t>
            </a:r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   |   CSE4204-8B-T04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4"/>
                </a:solidFill>
              </a:rPr>
              <a:t>THREE-TIER, CLOUD-NATIVE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4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2148840"/>
            <a:ext cx="685800" cy="685800"/>
          </a:xfrm>
          <a:prstGeom prst="ellipse">
            <a:avLst/>
          </a:prstGeom>
          <a:solidFill>
            <a:srgbClr val="0E8F8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0"/>
                </a:solidFill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Next.js 14 · React · TypeScript · Tailwind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0E8F84"/>
                </a:solidFill>
              </a:rPr>
              <a:t>Hosted on Vercel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96512" y="3291840"/>
            <a:ext cx="384048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26280" y="192024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4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97880" y="2148840"/>
            <a:ext cx="685800" cy="685800"/>
          </a:xfrm>
          <a:prstGeom prst="ellipse">
            <a:avLst/>
          </a:prstGeom>
          <a:solidFill>
            <a:srgbClr val="0F9D6C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0"/>
                </a:solidFill>
              </a:rPr>
              <a:t>Backend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34290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Node.js · Express · JWT · Joi · Winston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4251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0F9D6C"/>
                </a:solidFill>
              </a:rPr>
              <a:t>Hosted on Render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82712" y="3291840"/>
            <a:ext cx="384048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412480" y="192024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4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784080" y="2148840"/>
            <a:ext cx="685800" cy="685800"/>
          </a:xfrm>
          <a:prstGeom prst="ellipse">
            <a:avLst/>
          </a:prstGeom>
          <a:solidFill>
            <a:srgbClr val="D98A00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0"/>
                </a:solidFill>
              </a:rPr>
              <a:t>Data &amp; AI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41080" y="34290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PostgreSQL + pgvector · Gemini · LangChain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95360" y="4251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D98A00"/>
                </a:solidFill>
              </a:rPr>
              <a:t>Hosted on Supabase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04D"/>
                </a:solidFill>
              </a:rPr>
              <a:t>Authenticated REST between tiers · Supabase Realtime for live updates · n8n webhooks for recurring automation · Sentry monitoring on both ends.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5"/>
                </a:solidFill>
              </a:rPr>
              <a:t>Enterprise NeXus</a:t>
            </a:r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   |   CSE4204-8B-T04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4"/>
                </a:solidFill>
              </a:rPr>
              <a:t>BUILT WITH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8F84"/>
                </a:solidFill>
              </a:rPr>
              <a:t>Frontend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657600" y="164592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04D"/>
                </a:solidFill>
              </a:rPr>
              <a:t>Next.js 14, React 18, TypeScript, Tailwind CSS, SWR, Recharts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4231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8F84"/>
                </a:solidFill>
              </a:rPr>
              <a:t>Backend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57600" y="242316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04D"/>
                </a:solidFill>
              </a:rPr>
              <a:t>Node.js, Express, Joi validation, Winston logging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2004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8F84"/>
                </a:solidFill>
              </a:rPr>
              <a:t>Auth &amp; Security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57600" y="320040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04D"/>
                </a:solidFill>
              </a:rPr>
              <a:t>JWT + bcryptjs, RBAC, Helmet, rate limiting, Row-Level Security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9776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8F84"/>
                </a:solidFill>
              </a:rPr>
              <a:t>Database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57600" y="397764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04D"/>
                </a:solidFill>
              </a:rPr>
              <a:t>PostgreSQL (Supabase), 11 tables, pgvector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7548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8F84"/>
                </a:solidFill>
              </a:rPr>
              <a:t>AI Layer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657600" y="475488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04D"/>
                </a:solidFill>
              </a:rPr>
              <a:t>Google Gemini, LangChain.js, text-embedding-004 (RAG)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55321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8F84"/>
                </a:solidFill>
              </a:rPr>
              <a:t>DevOps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657600" y="553212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04D"/>
                </a:solidFill>
              </a:rPr>
              <a:t>Docker, GitHub Actions CI, Vercel, Render, n8n, Sentry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5"/>
                </a:solidFill>
              </a:rPr>
              <a:t>Enterprise NeXus</a:t>
            </a:r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   |   CSE4204-8B-T04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</a:rPr>
              <a:t>AI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+ RAG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B2633"/>
          </a:solidFill>
          <a:ln w="12700">
            <a:solidFill>
              <a:srgbClr val="0E8F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F3F1"/>
                </a:solidFill>
              </a:rPr>
              <a:t>User Question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24328" y="2304288"/>
            <a:ext cx="20116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34640" y="17830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B2633"/>
          </a:solidFill>
          <a:ln w="12700">
            <a:solidFill>
              <a:srgbClr val="0E8F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78308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F3F1"/>
                </a:solidFill>
              </a:rPr>
              <a:t>Executive Agent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10328" y="2304288"/>
            <a:ext cx="20116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20640" y="17830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B2633"/>
          </a:solidFill>
          <a:ln w="12700">
            <a:solidFill>
              <a:srgbClr val="0E8F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78308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F3F1"/>
                </a:solidFill>
              </a:rPr>
              <a:t>Delegate to Specialists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96328" y="2304288"/>
            <a:ext cx="20116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06640" y="17830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B2633"/>
          </a:solidFill>
          <a:ln w="12700">
            <a:solidFill>
              <a:srgbClr val="0E8F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178308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F3F1"/>
                </a:solidFill>
              </a:rPr>
              <a:t>Scoped Data + Gemini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482328" y="2304288"/>
            <a:ext cx="20116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92640" y="17830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B2633"/>
          </a:solidFill>
          <a:ln w="12700">
            <a:solidFill>
              <a:srgbClr val="0E8F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0" y="178308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F3F1"/>
                </a:solidFill>
              </a:rPr>
              <a:t>Synthesised Answer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Five specialist agents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2303A"/>
          </a:solidFill>
          <a:ln w="12700">
            <a:solidFill>
              <a:srgbClr val="2B4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307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7C1"/>
                </a:solidFill>
              </a:rPr>
              <a:t>CV screening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834640" y="36118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2303A"/>
          </a:solidFill>
          <a:ln w="12700">
            <a:solidFill>
              <a:srgbClr val="2B4A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37307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926080" y="4114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7C1"/>
                </a:solidFill>
              </a:rPr>
              <a:t>Anomaly triage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120640" y="36118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2303A"/>
          </a:solidFill>
          <a:ln w="12700">
            <a:solidFill>
              <a:srgbClr val="2B4A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37307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Support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12080" y="4114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7C1"/>
                </a:solidFill>
              </a:rPr>
              <a:t>Ticket + RAG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06640" y="36118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2303A"/>
          </a:solidFill>
          <a:ln w="12700">
            <a:solidFill>
              <a:srgbClr val="2B4A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37307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Analytics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98080" y="4114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7C1"/>
                </a:solidFill>
              </a:rPr>
              <a:t>Cross-module KPIs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692640" y="36118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2303A"/>
          </a:solidFill>
          <a:ln w="12700">
            <a:solidFill>
              <a:srgbClr val="2B4A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0" y="37307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Executive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84080" y="4114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7C1"/>
                </a:solidFill>
              </a:rPr>
              <a:t>Orchestrator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4983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D1"/>
                </a:solidFill>
              </a:rPr>
              <a:t>Every agent uses tool-calling over the user’s own data, validates output against a schema, and never fabricates results — a hardened Gemini client enforces timeouts, retries and native JSON, with a RAG pipeline (pgvector) grounding answers in company knowledge.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5"/>
                </a:solidFill>
              </a:rPr>
              <a:t>Enterprise NeXus</a:t>
            </a:r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   |   CSE4204-8B-T04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4"/>
                </a:solidFill>
              </a:rPr>
              <a:t>WHAT WE WILL SHOW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603504" cy="603504"/>
          </a:xfrm>
          <a:prstGeom prst="ellipse">
            <a:avLst/>
          </a:prstGeom>
          <a:solidFill>
            <a:srgbClr val="0E8F8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84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</a:rPr>
              <a:t>Authentication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25856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Register, login, JWT session, role-based access.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84248"/>
            <a:ext cx="603504" cy="603504"/>
          </a:xfrm>
          <a:prstGeom prst="ellipse">
            <a:avLst/>
          </a:prstGeom>
          <a:solidFill>
            <a:srgbClr val="0F9D6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84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</a:rPr>
              <a:t>HR Screening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0" y="225856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Upload a CV → AI score, recommendation, summary.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38728"/>
            <a:ext cx="603504" cy="603504"/>
          </a:xfrm>
          <a:prstGeom prst="ellipse">
            <a:avLst/>
          </a:prstGeom>
          <a:solidFill>
            <a:srgbClr val="0E8F8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38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34107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</a:rPr>
              <a:t>Finance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381304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Add/upload an expense → anomaly severity flagged.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1546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538728"/>
            <a:ext cx="603504" cy="603504"/>
          </a:xfrm>
          <a:prstGeom prst="ellipse">
            <a:avLst/>
          </a:prstGeom>
          <a:solidFill>
            <a:srgbClr val="0F9D6C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538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0" y="34107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</a:rPr>
              <a:t>Support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0" y="381304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Create a ticket → sentiment + RAG-grounded reply.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093208"/>
            <a:ext cx="603504" cy="603504"/>
          </a:xfrm>
          <a:prstGeom prst="ellipse">
            <a:avLst/>
          </a:prstGeom>
          <a:solidFill>
            <a:srgbClr val="0E8F84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0932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45920" y="4965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</a:rPr>
              <a:t>Executive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45920" y="536752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Ask a cross-domain question → delegated, synthesised answer.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470916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5093208"/>
            <a:ext cx="603504" cy="603504"/>
          </a:xfrm>
          <a:prstGeom prst="ellipse">
            <a:avLst/>
          </a:prstGeom>
          <a:solidFill>
            <a:srgbClr val="0F9D6C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50932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15200" y="4965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</a:rPr>
              <a:t>Deployment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315200" y="536752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The system running live on Vercel + Render + Supabase.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5"/>
                </a:solidFill>
              </a:rPr>
              <a:t>Enterprise NeXus</a:t>
            </a:r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   |   CSE4204-8B-T04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4"/>
                </a:solidFill>
              </a:rPr>
              <a:t>QUALITY AND 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8F84"/>
                </a:solidFill>
              </a:rPr>
              <a:t>65+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Automated test cases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8F84"/>
                </a:solidFill>
              </a:rPr>
              <a:t>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Jest test suites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8F84"/>
                </a:solidFill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63640" y="2560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CI jobs per push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8F84"/>
                </a:solidFill>
              </a:rPr>
              <a:t>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52560" y="2560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Live cloud tiers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" y="3429000"/>
          <a:ext cx="6766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7772400" y="3429000"/>
            <a:ext cx="3840480" cy="2743200"/>
          </a:xfrm>
          <a:prstGeom prst="roundRect">
            <a:avLst>
              <a:gd name="adj" fmla="val 30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4672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6C"/>
                </a:solidFill>
              </a:rPr>
              <a:t>Delivery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046720" y="40233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04D"/>
                </a:solidFill>
              </a:rPr>
              <a:t>GitHub Actions CI on every push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04D"/>
                </a:solidFill>
              </a:rPr>
              <a:t>Frontend → Vercel (auto-deploy)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04D"/>
                </a:solidFill>
              </a:rPr>
              <a:t>Backend → Render (Docker)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04D"/>
                </a:solidFill>
              </a:rPr>
              <a:t>Database → Supabase + RLS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04D"/>
                </a:solidFill>
              </a:rPr>
              <a:t>Secrets via environment variables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5"/>
                </a:solidFill>
              </a:rPr>
              <a:t>Enterprise NeXus</a:t>
            </a:r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   |   CSE4204-8B-T04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4"/>
                </a:solidFill>
              </a:rPr>
              <a:t>WHAT WE SOLVED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0"/>
                </a:solidFill>
              </a:rPr>
              <a:t>Unstructured LLM output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212080" y="1783080"/>
            <a:ext cx="0" cy="457200"/>
          </a:xfrm>
          <a:prstGeom prst="line">
            <a:avLst/>
          </a:prstGeom>
          <a:noFill/>
          <a:ln w="12700">
            <a:solidFill>
              <a:srgbClr val="CBD5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1600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04D"/>
                </a:solidFill>
              </a:rPr>
              <a:t>Gemini native JSON mode + schema validation (Joi/Zod).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BF3EE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53288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0"/>
                </a:solidFill>
              </a:rPr>
              <a:t>Fabricated data on AI outage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212080" y="2715768"/>
            <a:ext cx="0" cy="457200"/>
          </a:xfrm>
          <a:prstGeom prst="line">
            <a:avLst/>
          </a:prstGeom>
          <a:noFill/>
          <a:ln w="12700">
            <a:solidFill>
              <a:srgbClr val="CBD5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253288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04D"/>
                </a:solidFill>
              </a:rPr>
              <a:t>Typed AiUnavailableError + graceful pending status, test-enforced.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46557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0"/>
                </a:solidFill>
              </a:rPr>
              <a:t>Coordinating five agents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212080" y="3648456"/>
            <a:ext cx="0" cy="457200"/>
          </a:xfrm>
          <a:prstGeom prst="line">
            <a:avLst/>
          </a:prstGeom>
          <a:noFill/>
          <a:ln w="12700">
            <a:solidFill>
              <a:srgbClr val="CBD5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3465576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04D"/>
                </a:solidFill>
              </a:rPr>
              <a:t>Executive orchestrator with delegation tracing and memory.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BF3EE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398264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0"/>
                </a:solidFill>
              </a:rPr>
              <a:t>Grounding answers in facts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212080" y="4581144"/>
            <a:ext cx="0" cy="457200"/>
          </a:xfrm>
          <a:prstGeom prst="line">
            <a:avLst/>
          </a:prstGeom>
          <a:noFill/>
          <a:ln w="12700">
            <a:solidFill>
              <a:srgbClr val="CBD5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4398264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04D"/>
                </a:solidFill>
              </a:rPr>
              <a:t>RAG with Gemini embeddings and pgvector similarity search.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30952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8F8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533095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0"/>
                </a:solidFill>
              </a:rPr>
              <a:t>Per-user data isolation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212080" y="5513832"/>
            <a:ext cx="0" cy="457200"/>
          </a:xfrm>
          <a:prstGeom prst="line">
            <a:avLst/>
          </a:prstGeom>
          <a:noFill/>
          <a:ln w="12700">
            <a:solidFill>
              <a:srgbClr val="CBD5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5330952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04D"/>
                </a:solidFill>
              </a:rPr>
              <a:t>PostgreSQL Row-Level Security and scoped queries.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5"/>
                </a:solidFill>
              </a:rPr>
              <a:t>Enterprise NeXus</a:t>
            </a:r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   |   CSE4204-8B-T04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4"/>
                </a:solidFill>
              </a:rPr>
              <a:t>WHERE IT GOES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E8F8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6517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0"/>
                </a:solidFill>
              </a:rPr>
              <a:t>More agents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30632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Legal and Marketing specialists join the roster.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011680"/>
            <a:ext cx="548640" cy="548640"/>
          </a:xfrm>
          <a:prstGeom prst="ellipse">
            <a:avLst/>
          </a:prstGeom>
          <a:solidFill>
            <a:srgbClr val="0E8F84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1144" y="26517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0"/>
                </a:solidFill>
              </a:rPr>
              <a:t>More models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81144" y="30632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Support additional LLM providers and local models.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011680"/>
            <a:ext cx="548640" cy="548640"/>
          </a:xfrm>
          <a:prstGeom prst="ellipse">
            <a:avLst/>
          </a:prstGeom>
          <a:solidFill>
            <a:srgbClr val="0E8F84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57616" y="26517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0"/>
                </a:solidFill>
              </a:rPr>
              <a:t>Forecasting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7616" y="30632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Predictive analytics and trend detection.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0E8F8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4754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0"/>
                </a:solidFill>
              </a:rPr>
              <a:t>Mobile app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4672" y="5166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Native client and richer real-time collaboration.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25112" y="384048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4114800"/>
            <a:ext cx="548640" cy="548640"/>
          </a:xfrm>
          <a:prstGeom prst="ellipse">
            <a:avLst/>
          </a:prstGeom>
          <a:solidFill>
            <a:srgbClr val="0E8F84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→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81144" y="4754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0"/>
                </a:solidFill>
              </a:rPr>
              <a:t>Multi-tenant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81144" y="5166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Organisation-level workspaces and permissions.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01584" y="384048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2F8F6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75904" y="4114800"/>
            <a:ext cx="548640" cy="548640"/>
          </a:xfrm>
          <a:prstGeom prst="ellipse">
            <a:avLst/>
          </a:prstGeom>
          <a:solidFill>
            <a:srgbClr val="0E8F84"/>
          </a:solidFill>
          <a:ln/>
        </p:spPr>
      </p:sp>
      <p:sp>
        <p:nvSpPr>
          <p:cNvPr id="31" name="Text 29"/>
          <p:cNvSpPr/>
          <p:nvPr/>
        </p:nvSpPr>
        <p:spPr>
          <a:xfrm>
            <a:off x="8375904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→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57616" y="4754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0"/>
                </a:solidFill>
              </a:rPr>
              <a:t>Deeper security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57616" y="5166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5E"/>
                </a:solidFill>
              </a:rPr>
              <a:t>Expanded threat monitoring and alerting.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5"/>
                </a:solidFill>
              </a:rPr>
              <a:t>Enterprise NeXus</a:t>
            </a:r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   |   CSE4204-8B-T04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023360"/>
            <a:ext cx="4937760" cy="4937760"/>
          </a:xfrm>
          <a:prstGeom prst="ellipse">
            <a:avLst/>
          </a:prstGeom>
          <a:solidFill>
            <a:srgbClr val="0E8F84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4114800" cy="4114800"/>
          </a:xfrm>
          <a:prstGeom prst="ellipse">
            <a:avLst/>
          </a:prstGeom>
          <a:solidFill>
            <a:srgbClr val="0F9D6C">
              <a:alpha val="13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58368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E6"/>
                </a:solidFill>
              </a:rPr>
              <a:t>Enterprise NeXus — Multi-Agent AI Business Automation OS with Security Intelligence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76656" y="3794760"/>
            <a:ext cx="27432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2B0"/>
                </a:solidFill>
              </a:rPr>
              <a:t>Team CSE4204-8B-T04  ·  We welcome your questions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NeXus</dc:title>
  <dc:subject>PptxGenJS Presentation</dc:subject>
  <dc:creator>CSE4204-8B-T04</dc:creator>
  <cp:lastModifiedBy>CSE4204-8B-T04</cp:lastModifiedBy>
  <cp:revision>1</cp:revision>
  <dcterms:created xsi:type="dcterms:W3CDTF">2026-07-06T19:27:31Z</dcterms:created>
  <dcterms:modified xsi:type="dcterms:W3CDTF">2026-07-06T19:27:31Z</dcterms:modified>
</cp:coreProperties>
</file>